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322" r:id="rId5"/>
    <p:sldId id="321" r:id="rId6"/>
    <p:sldId id="318" r:id="rId7"/>
    <p:sldId id="323" r:id="rId8"/>
    <p:sldId id="324" r:id="rId9"/>
    <p:sldId id="325" r:id="rId10"/>
    <p:sldId id="326" r:id="rId11"/>
    <p:sldId id="327" r:id="rId12"/>
    <p:sldId id="329" r:id="rId13"/>
    <p:sldId id="328" r:id="rId14"/>
    <p:sldId id="31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B8BF"/>
    <a:srgbClr val="5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>
      <p:cViewPr varScale="1">
        <p:scale>
          <a:sx n="104" d="100"/>
          <a:sy n="104" d="100"/>
        </p:scale>
        <p:origin x="144" y="138"/>
      </p:cViewPr>
      <p:guideLst/>
    </p:cSldViewPr>
  </p:slideViewPr>
  <p:outlineViewPr>
    <p:cViewPr>
      <p:scale>
        <a:sx n="33" d="100"/>
        <a:sy n="33" d="100"/>
      </p:scale>
      <p:origin x="0" y="-77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E6205E-B305-4B90-9534-3C5E99A0275E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C623C-86E0-4A85-83FB-F4A716956F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722F1-E430-42A1-A473-1759336AECCE}" type="datetimeFigureOut">
              <a:rPr lang="en-US" smtClean="0"/>
              <a:t>4/23/2026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D7554-D10C-4E29-B8E6-BB7111FA614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5" y="690511"/>
            <a:ext cx="518582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84555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583" y="737115"/>
            <a:ext cx="4640418" cy="5407091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388461" y="737115"/>
            <a:ext cx="4449712" cy="5407091"/>
          </a:xfrm>
        </p:spPr>
        <p:txBody>
          <a:bodyPr lIns="0" tIns="0" rIns="0" bIns="0" anchor="ctr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E9F5D75-1D8F-F695-81F8-4A6D0C6782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24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1278294"/>
            <a:ext cx="5000318" cy="490414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2169" y="-1"/>
            <a:ext cx="4635426" cy="68579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02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3508311"/>
            <a:ext cx="9923770" cy="1438762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600" y="0"/>
            <a:ext cx="10361995" cy="3429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D179113D-0374-3934-841E-56AD5AFCF9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3828" y="5228488"/>
            <a:ext cx="9923770" cy="136825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22722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5" y="503852"/>
            <a:ext cx="9150675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50153" y="2108722"/>
            <a:ext cx="8552264" cy="4119463"/>
          </a:xfrm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ABAFC1-3E76-DCE6-3A6D-E0020C5BE8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59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07175C5-CB2F-2BAC-3704-54DCD1BF0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031" y="1068169"/>
            <a:ext cx="10115939" cy="2681549"/>
          </a:xfrm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01905E-33E7-852F-94E3-8E100B3D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914400"/>
            <a:ext cx="10363200" cy="50292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7799F7-CBB1-9649-7D06-F7EEFD4F0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AFC5CA-DB29-4B8C-C004-72E4EC761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3CB2D2A-7172-87CE-D493-DAF52D62EB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8031" y="4027047"/>
            <a:ext cx="10115939" cy="176278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6953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4" y="2057401"/>
            <a:ext cx="4627186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68185" y="2057401"/>
            <a:ext cx="4609399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D40DF0B-6602-19D4-3110-4659C28780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720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3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C355854D-70C0-E6E1-2A0C-284D00A21AE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5" y="2057401"/>
            <a:ext cx="3068678" cy="4119463"/>
          </a:xfrm>
        </p:spPr>
        <p:txBody>
          <a:bodyPr lIns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457200" indent="-32004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9144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3716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1828800" indent="-320040">
              <a:spcBef>
                <a:spcPts val="100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91727" y="2057401"/>
            <a:ext cx="6085857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7B331F9-6D4A-5020-969F-E961AF374E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237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and Content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57912CB-B8F8-1E65-094F-AD3220E6C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03363" y="2061969"/>
            <a:ext cx="4592637" cy="48053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87262" y="2052736"/>
            <a:ext cx="4490320" cy="480059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09D86D-3DDE-CA24-4CAA-DF6944B9BC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107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68814" y="2057400"/>
            <a:ext cx="3091027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able Placeholder 13">
            <a:extLst>
              <a:ext uri="{FF2B5EF4-FFF2-40B4-BE49-F238E27FC236}">
                <a16:creationId xmlns:a16="http://schemas.microsoft.com/office/drawing/2014/main" id="{EA708189-1532-1BDD-104F-4D8556146CEE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097463" y="2051976"/>
            <a:ext cx="6180137" cy="386753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E0EC71B-95A1-C740-6B1F-F8DF02E2D1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29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2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0AB10A-3CAB-D4C0-3CB1-401461802B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68814" y="2066731"/>
            <a:ext cx="6452876" cy="3867538"/>
          </a:xfrm>
        </p:spPr>
        <p:txBody>
          <a:bodyPr lIns="0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000"/>
            </a:lvl1pPr>
            <a:lvl2pPr>
              <a:lnSpc>
                <a:spcPct val="100000"/>
              </a:lnSpc>
              <a:spcAft>
                <a:spcPts val="600"/>
              </a:spcAft>
              <a:defRPr sz="2000"/>
            </a:lvl2pPr>
            <a:lvl3pPr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defRPr sz="2000"/>
            </a:lvl3pPr>
            <a:lvl4pPr>
              <a:lnSpc>
                <a:spcPct val="100000"/>
              </a:lnSpc>
              <a:spcAft>
                <a:spcPts val="1200"/>
              </a:spcAft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7DBA8ADB-B20F-8404-46AB-AF67E25C7C7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69196" y="2066731"/>
            <a:ext cx="3108391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4D5F7-E70A-5F97-5C8F-95B9E1B6D4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814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CB43608F-0A38-CF4A-4B3B-F1212E786FD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487488" y="2057400"/>
            <a:ext cx="9790112" cy="38862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5DA3688-07D1-82D9-6818-C95E9A69C2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357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4" y="690511"/>
            <a:ext cx="496467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D608249-3D60-D3B2-68C5-778D0EA18F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2286" y="690465"/>
            <a:ext cx="4784372" cy="5253089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374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82F216-62F1-7E0B-63FD-51C27CDAA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1F31D-B959-2AD8-9208-FF08B574D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2C8C7-5C6C-400B-AEC0-4D817816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105D6-7B52-4B7D-9473-BCD571A93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EAA0A-7090-4FA3-AD1C-CD457040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spc="1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43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3" r:id="rId2"/>
    <p:sldLayoutId id="2147483692" r:id="rId3"/>
    <p:sldLayoutId id="2147483691" r:id="rId4"/>
    <p:sldLayoutId id="2147483690" r:id="rId5"/>
    <p:sldLayoutId id="2147483689" r:id="rId6"/>
    <p:sldLayoutId id="2147483688" r:id="rId7"/>
    <p:sldLayoutId id="2147483687" r:id="rId8"/>
    <p:sldLayoutId id="2147483686" r:id="rId9"/>
    <p:sldLayoutId id="2147483685" r:id="rId10"/>
    <p:sldLayoutId id="2147483684" r:id="rId11"/>
    <p:sldLayoutId id="2147483682" r:id="rId12"/>
    <p:sldLayoutId id="214748368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54C9E-20FB-B999-9303-C71D1334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5" y="690511"/>
            <a:ext cx="5185821" cy="5253089"/>
          </a:xfrm>
        </p:spPr>
        <p:txBody>
          <a:bodyPr>
            <a:normAutofit/>
          </a:bodyPr>
          <a:lstStyle/>
          <a:p>
            <a:r>
              <a:rPr lang="en-US" sz="4800" dirty="0"/>
              <a:t>Big Mountain Ticket Price</a:t>
            </a:r>
            <a:br>
              <a:rPr lang="en-US" sz="4800" dirty="0"/>
            </a:br>
            <a:r>
              <a:rPr lang="en-US" sz="4800" dirty="0"/>
              <a:t>Research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033D3F-5836-336D-81E7-8E42D2B93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4026" y="1498793"/>
            <a:ext cx="5905500" cy="4273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822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97761-0B88-A5E8-0B78-C39173D05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458" y="822841"/>
            <a:ext cx="4640418" cy="834510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A04E6-CD61-B962-4287-DEC1993C32D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217458" y="1752600"/>
            <a:ext cx="3049742" cy="3548974"/>
          </a:xfrm>
        </p:spPr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Identification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Recommendations &amp; Key Findings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Modeling Approach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Modeling Performance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Drivers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Scenario Analysis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4601E-33F5-5714-867D-A0B584DA7C1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982C2D3-C0AD-2066-1940-5C680925C0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124" y="1390865"/>
            <a:ext cx="7267575" cy="4476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455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EBC60-AA38-5DEF-3160-0CAA68F3D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503852"/>
            <a:ext cx="9150675" cy="1427585"/>
          </a:xfrm>
        </p:spPr>
        <p:txBody>
          <a:bodyPr/>
          <a:lstStyle/>
          <a:p>
            <a:r>
              <a:rPr lang="en-US" dirty="0"/>
              <a:t>Problem Identification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EE570-1B5E-FFD1-485D-D77E4E6FE7C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0153" y="2108722"/>
            <a:ext cx="8552264" cy="4119463"/>
          </a:xfrm>
        </p:spPr>
        <p:txBody>
          <a:bodyPr>
            <a:norm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The current premium pricing strategy at Big Mountain lacks feature-based justification, and there is no clear linkage between resort features and ticket price. 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result is limited support for investment decision-making.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Big Mountain’s current adult weekend ticket price is $81 (above national average and among highest in Montana).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Initial Directive: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Increase revenue by 10% by the end of next season via night skiing expansion and marketing of new lift and Hellfire run.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C964F-E2D5-D8E7-C513-C47A7E409DF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6152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23398-F8C3-686E-CE8F-9CE650A2A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0FFAF-5C31-9D71-C8B7-1F98FA236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503852"/>
            <a:ext cx="9150675" cy="1427585"/>
          </a:xfrm>
        </p:spPr>
        <p:txBody>
          <a:bodyPr/>
          <a:lstStyle/>
          <a:p>
            <a:r>
              <a:rPr lang="en-US" dirty="0"/>
              <a:t>Recommendations &amp; Key Findings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5D714-EC37-DF24-A525-E04DAEA33B5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0153" y="2108722"/>
            <a:ext cx="8552264" cy="4119463"/>
          </a:xfrm>
        </p:spPr>
        <p:txBody>
          <a:bodyPr>
            <a:norm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 #1: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Immediate $1 increase to weekend ticket price and close 3-5 of the least used runs.  The price increase alone easily accommodates the cost of recently installed chair lift. 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 #2: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Add new run to increase vertical drop 150' with additional chair lift.  This will warrant an $8.61 bump in price.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is with the above recommendation that the desired 10% increase in seasonal revenue will be achieved.</a:t>
            </a: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 #2 Stretch: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Add 2 acres of snowmaking to new run to achieve extra $1.29 bump in price.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28E042-693D-44D7-045D-9543B1618EA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437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E975D-DED5-F6D2-C398-C18F29E06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BA216-E12E-48FC-6CBC-391CCFD55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503852"/>
            <a:ext cx="9150675" cy="1427585"/>
          </a:xfrm>
        </p:spPr>
        <p:txBody>
          <a:bodyPr/>
          <a:lstStyle/>
          <a:p>
            <a:r>
              <a:rPr lang="en-US" dirty="0"/>
              <a:t>Modeling Approach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F9967-5C34-B723-C46F-61BE50FE358E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68815" y="1624090"/>
            <a:ext cx="8552264" cy="4119463"/>
          </a:xfrm>
        </p:spPr>
        <p:txBody>
          <a:bodyPr>
            <a:no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(cleaned): 277 resorts, 25 features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Constraint: No information regarding one-time and seasonal operating costs at Big Mountain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 variable: Adult weekend ticket price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Note:  Adult weekday ticket price was dropped due to original dataset having excessive missing values for this feature.</a:t>
            </a:r>
            <a:endParaRPr lang="en-US" dirty="0">
              <a:solidFill>
                <a:srgbClr val="0070C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Models tested: 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Baseline (average weekend ticket price across all resorts)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Linear Regression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Random Forest (ultimately selected for best performance)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A40646-A403-2B86-A602-F8FFA0F5F9B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492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D34F7-C259-5B11-6F40-D27AECF89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2487B-4FFF-6EF5-8A62-4B4F8189C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153" y="1042416"/>
            <a:ext cx="9150675" cy="1066306"/>
          </a:xfrm>
        </p:spPr>
        <p:txBody>
          <a:bodyPr>
            <a:normAutofit fontScale="90000"/>
          </a:bodyPr>
          <a:lstStyle/>
          <a:p>
            <a:br>
              <a:rPr lang="en-US" sz="4000" dirty="0"/>
            </a:br>
            <a:r>
              <a:rPr lang="en-US" sz="4000" dirty="0"/>
              <a:t>Modeling Performance</a:t>
            </a:r>
            <a:br>
              <a:rPr lang="en-US" dirty="0"/>
            </a:br>
            <a:br>
              <a:rPr lang="en-US" dirty="0"/>
            </a:br>
            <a:r>
              <a:rPr lang="en-US" sz="1800" i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Mean Absolute Error (MAE) = average magnitude of errors between predicted (from model) and actual (from dataset) values</a:t>
            </a:r>
            <a:br>
              <a:rPr lang="en-US" i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74487C-9B97-0100-1132-F3E3D8437A0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0153" y="2738537"/>
            <a:ext cx="8552264" cy="4119463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Baseline MAE: $19.13 (Would expect random guess of ticket price to be off by $19)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Linear Regression MAE: $10.50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 Forest MAE: $9.64 (exhibited lower variability versus linear model)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 forest model was selected as best choice for price prediction.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F33D44-CFA5-F5B7-FBDB-7BB57797EDA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09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A9CAA9-76AA-93DC-3106-4810DC52F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A0455-9CA5-6F59-F4B8-5FD63C391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Drivers</a:t>
            </a:r>
            <a:endParaRPr lang="en-ZA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1A28E74-08FB-F033-50F8-7BBA2C99372A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5354638" y="1527992"/>
            <a:ext cx="5694362" cy="443466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52498-39E7-42CE-6174-B75FCEC1214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468814" y="1743076"/>
            <a:ext cx="3400049" cy="4119463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drivers of price from selected model: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Fast quads 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Runs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Snow making acreage</a:t>
            </a:r>
          </a:p>
          <a:p>
            <a:pPr lvl="1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Vertical drop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Note: Neither night skiing acreage nor length of Hellfire run were significant to pricing.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F23D82-56A5-C2B1-C2AA-B5C299B51D3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8177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11995-1F57-E353-0401-B1941F697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F1324-60CD-3AB6-C32E-CB602FD7B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336646"/>
            <a:ext cx="9150675" cy="1427585"/>
          </a:xfrm>
        </p:spPr>
        <p:txBody>
          <a:bodyPr/>
          <a:lstStyle/>
          <a:p>
            <a:r>
              <a:rPr lang="en-US" dirty="0"/>
              <a:t>Scenario Analysis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1FB8E-8367-EA1F-4C7F-A5171E5B5CE8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68815" y="1516648"/>
            <a:ext cx="8552264" cy="4655552"/>
          </a:xfrm>
        </p:spPr>
        <p:txBody>
          <a:bodyPr>
            <a:noAutofit/>
          </a:bodyPr>
          <a:lstStyle/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#1 - Closing underutilized runs: Model predicts that the closing of up to 5 runs will result in $0.57 overall drop in ticket price.  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0FCACE-AE9C-186A-5ADF-10084CB47C8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1D6CB9-EF77-46AA-3ED3-96AA17964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713" y="2219604"/>
            <a:ext cx="3952134" cy="3838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736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6EC2C-28F1-59E4-F074-E214616C0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FB8D6-BCEE-1CC8-73FF-D656C8241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503852"/>
            <a:ext cx="9150675" cy="1427585"/>
          </a:xfrm>
        </p:spPr>
        <p:txBody>
          <a:bodyPr/>
          <a:lstStyle/>
          <a:p>
            <a:r>
              <a:rPr lang="en-US" dirty="0"/>
              <a:t>Scenario Analysis (continued)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F8827-4681-8833-7253-EBF07A1B6F1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68815" y="1688098"/>
            <a:ext cx="8552264" cy="4119463"/>
          </a:xfrm>
        </p:spPr>
        <p:txBody>
          <a:bodyPr>
            <a:noAutofit/>
          </a:bodyPr>
          <a:lstStyle/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#2 - Increasing vertical drop by 150 feet with additional lift: Model predicts price increase of $8.61 from current.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#3 - Same as previous option but with 2 acres of snow making: Model predicts price increase of $9.90 from current.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#4 - Increasing the Hellfire run by 0.2 miles with 4 acres of snow making: Model predicts no price change from current.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Note:  The predicted ticket price from the model was calculated to be $95.87 for current facilities.  This suggests Big Mountain is underpricing relative to its features.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5D931A-74D4-A82A-D229-79A71AC6FAC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4587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4EFF0-88BF-448D-2909-A4FFFFC2D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7CFF1-BE07-903C-E0B7-2B293BD28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503852"/>
            <a:ext cx="9150675" cy="1427585"/>
          </a:xfrm>
        </p:spPr>
        <p:txBody>
          <a:bodyPr/>
          <a:lstStyle/>
          <a:p>
            <a:r>
              <a:rPr lang="en-US" dirty="0"/>
              <a:t>Conclusion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BA463-EFF0-45EE-54F4-EA7313EC01C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50153" y="2108722"/>
            <a:ext cx="8552264" cy="4119463"/>
          </a:xfrm>
        </p:spPr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Big Mountain has been underpricing tickets relative to the features offered.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Immediate $1 price increase is easily warranted to cover costs of new chair lift.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Closing 3-5 of least-used runs can reduce costs without impacting ticket price.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150-foot vertical drop expansion offers strongest return-on-investment potential.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150-foot vertical drop with 2 acres of snow making is a nice-to-have, but will depend on cost.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work: Incorporate Big Mountain’s operational cost data for further refinement of model.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E47EB-A16D-F02C-65B8-2FBE972D624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56072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101732C-7338-DBA0-BD19-1FA883047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4" y="690511"/>
            <a:ext cx="4964671" cy="5253089"/>
          </a:xfrm>
        </p:spPr>
        <p:txBody>
          <a:bodyPr>
            <a:normAutofit/>
          </a:bodyPr>
          <a:lstStyle/>
          <a:p>
            <a:r>
              <a:rPr lang="en-US" sz="4800" dirty="0"/>
              <a:t>Thank</a:t>
            </a:r>
            <a:br>
              <a:rPr lang="en-US" sz="4800" dirty="0"/>
            </a:br>
            <a:r>
              <a:rPr lang="en-US" sz="4800" dirty="0"/>
              <a:t>you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0ECFE66-A9E7-A365-967B-2FD670CB392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82286" y="690465"/>
            <a:ext cx="4784372" cy="5253089"/>
          </a:xfrm>
        </p:spPr>
        <p:txBody>
          <a:bodyPr/>
          <a:lstStyle/>
          <a:p>
            <a:r>
              <a:rPr lang="en-US" dirty="0"/>
              <a:t>Allen Jahnke</a:t>
            </a:r>
          </a:p>
          <a:p>
            <a:r>
              <a:rPr lang="en-US" dirty="0"/>
              <a:t>316-253-2334</a:t>
            </a:r>
          </a:p>
          <a:p>
            <a:r>
              <a:rPr lang="en-US" dirty="0"/>
              <a:t>Jahn.al@live.com</a:t>
            </a:r>
          </a:p>
        </p:txBody>
      </p:sp>
    </p:spTree>
    <p:extLst>
      <p:ext uri="{BB962C8B-B14F-4D97-AF65-F5344CB8AC3E}">
        <p14:creationId xmlns:p14="http://schemas.microsoft.com/office/powerpoint/2010/main" val="70437084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8696B"/>
      </a:accent1>
      <a:accent2>
        <a:srgbClr val="95B8BF"/>
      </a:accent2>
      <a:accent3>
        <a:srgbClr val="BFD4D9"/>
      </a:accent3>
      <a:accent4>
        <a:srgbClr val="5B4839"/>
      </a:accent4>
      <a:accent5>
        <a:srgbClr val="C3A398"/>
      </a:accent5>
      <a:accent6>
        <a:srgbClr val="CA553E"/>
      </a:accent6>
      <a:hlink>
        <a:srgbClr val="0563C1"/>
      </a:hlink>
      <a:folHlink>
        <a:srgbClr val="954F72"/>
      </a:folHlink>
    </a:clrScheme>
    <a:fontScheme name="Custom 30">
      <a:majorFont>
        <a:latin typeface="Tisa Offc Serif Pro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44816_Win32_SL_V10" id="{8934A6D9-B969-498F-A646-4B502FD69C4E}" vid="{AA78C1C8-456D-41A9-83FC-BC8B9A8EE3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FDB7358-0BCB-4DEB-B717-C1D7CC555F0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6DE3707C-8CAB-4302-B7E1-D32E1543E05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69E9DE5-EFFE-4262-A023-32732F0B66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{6341C258-A169-4025-9280-FDA907B2106F}TF3977e381-cba5-49b1-ba43-b5d865517af907ebbda9_win32-372d4d6ae720</Template>
  <TotalTime>1228</TotalTime>
  <Words>654</Words>
  <Application>Microsoft Office PowerPoint</Application>
  <PresentationFormat>Widescreen</PresentationFormat>
  <Paragraphs>67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Tisa Offc Serif Pro</vt:lpstr>
      <vt:lpstr>Univers Light</vt:lpstr>
      <vt:lpstr>Custom</vt:lpstr>
      <vt:lpstr>Big Mountain Ticket Price Research</vt:lpstr>
      <vt:lpstr>Agenda</vt:lpstr>
      <vt:lpstr>Problem Identification</vt:lpstr>
      <vt:lpstr>Recommendations &amp; Key Findings</vt:lpstr>
      <vt:lpstr>Modeling Approach</vt:lpstr>
      <vt:lpstr> Modeling Performance  Mean Absolute Error (MAE) = average magnitude of errors between predicted (from model) and actual (from dataset) values </vt:lpstr>
      <vt:lpstr>Key Drivers</vt:lpstr>
      <vt:lpstr>Scenario Analysis</vt:lpstr>
      <vt:lpstr>Scenario Analysis (continued)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 Jahnke</dc:creator>
  <cp:lastModifiedBy>Al Jahnke</cp:lastModifiedBy>
  <cp:revision>13</cp:revision>
  <dcterms:created xsi:type="dcterms:W3CDTF">2026-04-23T18:04:15Z</dcterms:created>
  <dcterms:modified xsi:type="dcterms:W3CDTF">2026-04-24T14:33:09Z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